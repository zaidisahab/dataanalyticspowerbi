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41" autoAdjust="0"/>
    <p:restoredTop sz="94660"/>
  </p:normalViewPr>
  <p:slideViewPr>
    <p:cSldViewPr snapToGrid="0">
      <p:cViewPr varScale="1">
        <p:scale>
          <a:sx n="78" d="100"/>
          <a:sy n="78" d="100"/>
        </p:scale>
        <p:origin x="1301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E:\DATA-ANALYTICS-HADI-LEARNING-MISS-AROOSA\excel%20power%20dashboard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E:\DATA-ANALYTICS-HADI-LEARNING-MISS-AROOSA\excel%20power%20dashboard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r>
              <a:rPr lang="en-US" sz="2000" dirty="0">
                <a:solidFill>
                  <a:schemeClr val="tx1">
                    <a:lumMod val="8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Calls Received</a:t>
            </a:r>
          </a:p>
        </c:rich>
      </c:tx>
      <c:layout>
        <c:manualLayout>
          <c:xMode val="edge"/>
          <c:yMode val="edge"/>
          <c:x val="0.34076944707195206"/>
          <c:y val="0.1067999650862997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09156815432206"/>
          <c:y val="0.10989290135458779"/>
          <c:w val="0.83355073581540162"/>
          <c:h val="0.77986998996376111"/>
        </c:manualLayout>
      </c:layout>
      <c:areaChart>
        <c:grouping val="standard"/>
        <c:varyColors val="0"/>
        <c:ser>
          <c:idx val="0"/>
          <c:order val="0"/>
          <c:tx>
            <c:strRef>
              <c:f>ForPower!$A$11</c:f>
              <c:strCache>
                <c:ptCount val="1"/>
                <c:pt idx="0">
                  <c:v>Sum of Total Calls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cat>
            <c:strRef>
              <c:f>ForPower!$B$10:$C$10</c:f>
              <c:strCache>
                <c:ptCount val="2"/>
                <c:pt idx="0">
                  <c:v>rates</c:v>
                </c:pt>
                <c:pt idx="1">
                  <c:v>percent</c:v>
                </c:pt>
              </c:strCache>
            </c:strRef>
          </c:cat>
          <c:val>
            <c:numRef>
              <c:f>ForPower!$B$11:$C$11</c:f>
              <c:numCache>
                <c:formatCode>0%</c:formatCode>
                <c:ptCount val="2"/>
                <c:pt idx="0" formatCode="#,##0">
                  <c:v>133300</c:v>
                </c:pt>
                <c:pt idx="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EFA-447A-831B-506485DD8972}"/>
            </c:ext>
          </c:extLst>
        </c:ser>
        <c:ser>
          <c:idx val="1"/>
          <c:order val="1"/>
          <c:tx>
            <c:strRef>
              <c:f>ForPower!$A$12</c:f>
              <c:strCache>
                <c:ptCount val="1"/>
                <c:pt idx="0">
                  <c:v>Sum of Calls Reached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cat>
            <c:strRef>
              <c:f>ForPower!$B$10:$C$10</c:f>
              <c:strCache>
                <c:ptCount val="2"/>
                <c:pt idx="0">
                  <c:v>rates</c:v>
                </c:pt>
                <c:pt idx="1">
                  <c:v>percent</c:v>
                </c:pt>
              </c:strCache>
            </c:strRef>
          </c:cat>
          <c:val>
            <c:numRef>
              <c:f>ForPower!$B$12:$C$12</c:f>
              <c:numCache>
                <c:formatCode>0%</c:formatCode>
                <c:ptCount val="2"/>
                <c:pt idx="0" formatCode="#,##0">
                  <c:v>3619</c:v>
                </c:pt>
                <c:pt idx="1">
                  <c:v>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EFA-447A-831B-506485DD8972}"/>
            </c:ext>
          </c:extLst>
        </c:ser>
        <c:ser>
          <c:idx val="2"/>
          <c:order val="2"/>
          <c:tx>
            <c:strRef>
              <c:f>ForPower!$A$13</c:f>
              <c:strCache>
                <c:ptCount val="1"/>
                <c:pt idx="0">
                  <c:v>Sum of Deals Closed</c:v>
                </c:pt>
              </c:strCache>
            </c:strRef>
          </c:tx>
          <c:spPr>
            <a:solidFill>
              <a:schemeClr val="accent3"/>
            </a:solidFill>
            <a:ln w="25400">
              <a:noFill/>
            </a:ln>
            <a:effectLst/>
          </c:spPr>
          <c:cat>
            <c:strRef>
              <c:f>ForPower!$B$10:$C$10</c:f>
              <c:strCache>
                <c:ptCount val="2"/>
                <c:pt idx="0">
                  <c:v>rates</c:v>
                </c:pt>
                <c:pt idx="1">
                  <c:v>percent</c:v>
                </c:pt>
              </c:strCache>
            </c:strRef>
          </c:cat>
          <c:val>
            <c:numRef>
              <c:f>ForPower!$B$13:$C$13</c:f>
              <c:numCache>
                <c:formatCode>0%</c:formatCode>
                <c:ptCount val="2"/>
                <c:pt idx="0" formatCode="#,##0">
                  <c:v>1309</c:v>
                </c:pt>
                <c:pt idx="1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EFA-447A-831B-506485DD8972}"/>
            </c:ext>
          </c:extLst>
        </c:ser>
        <c:ser>
          <c:idx val="3"/>
          <c:order val="3"/>
          <c:tx>
            <c:strRef>
              <c:f>ForPower!$A$14</c:f>
              <c:strCache>
                <c:ptCount val="1"/>
                <c:pt idx="0">
                  <c:v>Sum of Deal Value ($)</c:v>
                </c:pt>
              </c:strCache>
            </c:strRef>
          </c:tx>
          <c:spPr>
            <a:solidFill>
              <a:srgbClr val="FFC000"/>
            </a:solidFill>
            <a:ln w="25400">
              <a:noFill/>
            </a:ln>
            <a:effectLst/>
          </c:spPr>
          <c:cat>
            <c:strRef>
              <c:f>ForPower!$B$10:$C$10</c:f>
              <c:strCache>
                <c:ptCount val="2"/>
                <c:pt idx="0">
                  <c:v>rates</c:v>
                </c:pt>
                <c:pt idx="1">
                  <c:v>percent</c:v>
                </c:pt>
              </c:strCache>
            </c:strRef>
          </c:cat>
          <c:val>
            <c:numRef>
              <c:f>ForPower!$B$14:$C$14</c:f>
              <c:numCache>
                <c:formatCode>0%</c:formatCode>
                <c:ptCount val="2"/>
                <c:pt idx="0" formatCode="&quot;$&quot;#,##0">
                  <c:v>706194.88999999966</c:v>
                </c:pt>
                <c:pt idx="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EFA-447A-831B-506485DD89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807790864"/>
        <c:axId val="807790144"/>
      </c:areaChart>
      <c:catAx>
        <c:axId val="80779086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07790144"/>
        <c:crosses val="autoZero"/>
        <c:auto val="1"/>
        <c:lblAlgn val="ctr"/>
        <c:lblOffset val="100"/>
        <c:noMultiLvlLbl val="0"/>
      </c:catAx>
      <c:valAx>
        <c:axId val="807790144"/>
        <c:scaling>
          <c:orientation val="minMax"/>
        </c:scaling>
        <c:delete val="0"/>
        <c:axPos val="l"/>
        <c:numFmt formatCode="#,##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0779086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4255816314161283"/>
          <c:y val="0.11212163867079566"/>
          <c:w val="0.24242245653594352"/>
          <c:h val="0.35350287257447327"/>
        </c:manualLayout>
      </c:layout>
      <c:overlay val="0"/>
      <c:spPr>
        <a:solidFill>
          <a:schemeClr val="bg1"/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</c:chart>
  <c:spPr>
    <a:solidFill>
      <a:schemeClr val="bg1">
        <a:lumMod val="95000"/>
        <a:lumOff val="5000"/>
      </a:schemeClr>
    </a:solidFill>
    <a:ln w="9525" cap="flat" cmpd="sng" algn="ctr">
      <a:noFill/>
      <a:round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[excel power dashboard.xlsx]Analysis!PivotTable16</c:name>
    <c:fmtId val="3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40" b="0" i="0" u="none" strike="noStrike" kern="120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r>
              <a:rPr lang="en-US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Sum of calls Reached</a:t>
            </a:r>
          </a:p>
          <a:p>
            <a:pPr>
              <a:defRPr>
                <a:solidFill>
                  <a:schemeClr val="bg1"/>
                </a:solidFill>
              </a:defRPr>
            </a:pPr>
            <a:endParaRPr lang="en-US" dirty="0">
              <a:solidFill>
                <a:schemeClr val="tx1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c:rich>
      </c:tx>
      <c:overlay val="0"/>
      <c:spPr>
        <a:solidFill>
          <a:schemeClr val="bg1"/>
        </a:solidFill>
        <a:ln>
          <a:solidFill>
            <a:schemeClr val="bg1">
              <a:lumMod val="95000"/>
              <a:lumOff val="5000"/>
            </a:schemeClr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40" b="0" i="0" u="none" strike="noStrike" kern="1200" spc="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>
            <a:outerShdw blurRad="215900" dist="177800" dir="5400000" algn="ctr" rotWithShape="0">
              <a:srgbClr val="FFC000">
                <a:alpha val="86000"/>
              </a:srgbClr>
            </a:outerShdw>
          </a:effectLst>
        </c:spPr>
        <c:marker>
          <c:symbol val="none"/>
        </c:marker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>
            <a:outerShdw blurRad="215900" dist="177800" dir="5400000" algn="ctr" rotWithShape="0">
              <a:srgbClr val="FFC000">
                <a:alpha val="86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>
            <a:outerShdw blurRad="215900" dist="177800" dir="5400000" algn="ctr" rotWithShape="0">
              <a:srgbClr val="FFC000">
                <a:alpha val="86000"/>
              </a:srgbClr>
            </a:outerShdw>
          </a:effectLst>
        </c:spPr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>
            <a:outerShdw blurRad="215900" dist="177800" dir="5400000" algn="ctr" rotWithShape="0">
              <a:srgbClr val="FFC000">
                <a:alpha val="86000"/>
              </a:srgbClr>
            </a:outerShdw>
          </a:effectLst>
        </c:spPr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>
            <a:outerShdw blurRad="215900" dist="177800" dir="5400000" algn="ctr" rotWithShape="0">
              <a:srgbClr val="FFC000">
                <a:alpha val="86000"/>
              </a:srgbClr>
            </a:outerShdw>
          </a:effectLst>
        </c:spPr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>
            <a:outerShdw blurRad="215900" dist="177800" dir="5400000" algn="ctr" rotWithShape="0">
              <a:srgbClr val="FFC000">
                <a:alpha val="86000"/>
              </a:srgbClr>
            </a:outerShdw>
          </a:effectLst>
        </c:spPr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>
            <a:outerShdw blurRad="215900" dist="177800" dir="5400000" algn="ctr" rotWithShape="0">
              <a:srgbClr val="FFC000">
                <a:alpha val="86000"/>
              </a:srgbClr>
            </a:outerShdw>
          </a:effectLst>
        </c:spPr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>
            <a:outerShdw blurRad="215900" dist="177800" dir="5400000" algn="ctr" rotWithShape="0">
              <a:srgbClr val="FFC000">
                <a:alpha val="86000"/>
              </a:srgbClr>
            </a:outerShdw>
          </a:effectLst>
        </c:spPr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>
            <a:outerShdw blurRad="215900" dist="177800" dir="5400000" algn="ctr" rotWithShape="0">
              <a:srgbClr val="FFC000">
                <a:alpha val="86000"/>
              </a:srgbClr>
            </a:outerShdw>
          </a:effectLst>
        </c:spPr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>
            <a:outerShdw blurRad="215900" dist="177800" dir="5400000" algn="ctr" rotWithShape="0">
              <a:srgbClr val="FFC000">
                <a:alpha val="86000"/>
              </a:srgbClr>
            </a:outerShdw>
          </a:effectLst>
        </c:spPr>
      </c:pivotFmt>
      <c:pivotFmt>
        <c:idx val="10"/>
        <c:spPr>
          <a:solidFill>
            <a:schemeClr val="accent1"/>
          </a:solidFill>
          <a:ln w="19050">
            <a:solidFill>
              <a:schemeClr val="lt1"/>
            </a:solidFill>
          </a:ln>
          <a:effectLst>
            <a:outerShdw blurRad="215900" dist="177800" dir="5400000" algn="ctr" rotWithShape="0">
              <a:srgbClr val="FFC000">
                <a:alpha val="86000"/>
              </a:srgbClr>
            </a:outerShdw>
          </a:effectLst>
        </c:spPr>
      </c:pivotFmt>
      <c:pivotFmt>
        <c:idx val="11"/>
        <c:spPr>
          <a:solidFill>
            <a:schemeClr val="accent1"/>
          </a:solidFill>
          <a:ln w="19050">
            <a:solidFill>
              <a:schemeClr val="lt1"/>
            </a:solidFill>
          </a:ln>
          <a:effectLst>
            <a:outerShdw blurRad="215900" dist="177800" dir="5400000" algn="ctr" rotWithShape="0">
              <a:srgbClr val="FFC000">
                <a:alpha val="86000"/>
              </a:srgbClr>
            </a:outerShdw>
          </a:effectLst>
        </c:spPr>
      </c:pivotFmt>
      <c:pivotFmt>
        <c:idx val="12"/>
        <c:spPr>
          <a:solidFill>
            <a:schemeClr val="accent1"/>
          </a:solidFill>
          <a:ln w="19050">
            <a:solidFill>
              <a:schemeClr val="lt1"/>
            </a:solidFill>
          </a:ln>
          <a:effectLst>
            <a:outerShdw blurRad="215900" dist="177800" dir="5400000" algn="ctr" rotWithShape="0">
              <a:srgbClr val="FFC000">
                <a:alpha val="86000"/>
              </a:srgbClr>
            </a:outerShdw>
          </a:effectLst>
        </c:spPr>
      </c:pivotFmt>
      <c:pivotFmt>
        <c:idx val="13"/>
        <c:spPr>
          <a:solidFill>
            <a:schemeClr val="accent1"/>
          </a:solidFill>
          <a:ln w="19050">
            <a:solidFill>
              <a:schemeClr val="lt1"/>
            </a:solidFill>
          </a:ln>
          <a:effectLst>
            <a:outerShdw blurRad="215900" dist="177800" dir="5400000" algn="ctr" rotWithShape="0">
              <a:srgbClr val="FFC000">
                <a:alpha val="86000"/>
              </a:srgbClr>
            </a:outerShdw>
          </a:effectLst>
        </c:spPr>
      </c:pivotFmt>
      <c:pivotFmt>
        <c:idx val="14"/>
        <c:spPr>
          <a:solidFill>
            <a:schemeClr val="accent1"/>
          </a:solidFill>
          <a:ln w="19050">
            <a:solidFill>
              <a:schemeClr val="lt1"/>
            </a:solidFill>
          </a:ln>
          <a:effectLst>
            <a:outerShdw blurRad="215900" dist="177800" dir="5400000" algn="ctr" rotWithShape="0">
              <a:srgbClr val="FFC000">
                <a:alpha val="86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 w="19050">
            <a:solidFill>
              <a:schemeClr val="lt1"/>
            </a:solidFill>
          </a:ln>
          <a:effectLst>
            <a:outerShdw blurRad="215900" dist="177800" dir="5400000" algn="ctr" rotWithShape="0">
              <a:srgbClr val="FFC000">
                <a:alpha val="86000"/>
              </a:srgbClr>
            </a:outerShdw>
          </a:effectLst>
        </c:spPr>
      </c:pivotFmt>
      <c:pivotFmt>
        <c:idx val="16"/>
        <c:spPr>
          <a:solidFill>
            <a:schemeClr val="accent1"/>
          </a:solidFill>
          <a:ln w="19050">
            <a:solidFill>
              <a:schemeClr val="lt1"/>
            </a:solidFill>
          </a:ln>
          <a:effectLst>
            <a:outerShdw blurRad="215900" dist="177800" dir="5400000" algn="ctr" rotWithShape="0">
              <a:srgbClr val="FFC000">
                <a:alpha val="86000"/>
              </a:srgbClr>
            </a:outerShdw>
          </a:effectLst>
        </c:spPr>
      </c:pivotFmt>
      <c:pivotFmt>
        <c:idx val="17"/>
        <c:spPr>
          <a:solidFill>
            <a:schemeClr val="accent1"/>
          </a:solidFill>
          <a:ln w="19050">
            <a:solidFill>
              <a:schemeClr val="lt1"/>
            </a:solidFill>
          </a:ln>
          <a:effectLst>
            <a:outerShdw blurRad="215900" dist="177800" dir="5400000" algn="ctr" rotWithShape="0">
              <a:srgbClr val="FFC000">
                <a:alpha val="86000"/>
              </a:srgbClr>
            </a:outerShdw>
          </a:effectLst>
        </c:spPr>
      </c:pivotFmt>
      <c:pivotFmt>
        <c:idx val="18"/>
        <c:spPr>
          <a:solidFill>
            <a:schemeClr val="accent1"/>
          </a:solidFill>
          <a:ln w="19050">
            <a:solidFill>
              <a:schemeClr val="lt1"/>
            </a:solidFill>
          </a:ln>
          <a:effectLst>
            <a:outerShdw blurRad="215900" dist="177800" dir="5400000" algn="ctr" rotWithShape="0">
              <a:srgbClr val="FFC000">
                <a:alpha val="86000"/>
              </a:srgbClr>
            </a:outerShdw>
          </a:effectLst>
        </c:spPr>
      </c:pivotFmt>
      <c:pivotFmt>
        <c:idx val="19"/>
        <c:spPr>
          <a:solidFill>
            <a:schemeClr val="accent1"/>
          </a:solidFill>
          <a:ln w="19050">
            <a:solidFill>
              <a:schemeClr val="lt1"/>
            </a:solidFill>
          </a:ln>
          <a:effectLst>
            <a:outerShdw blurRad="215900" dist="177800" dir="5400000" algn="ctr" rotWithShape="0">
              <a:srgbClr val="FFC000">
                <a:alpha val="86000"/>
              </a:srgbClr>
            </a:outerShdw>
          </a:effectLst>
        </c:spPr>
      </c:pivotFmt>
      <c:pivotFmt>
        <c:idx val="20"/>
        <c:spPr>
          <a:solidFill>
            <a:schemeClr val="accent1"/>
          </a:solidFill>
          <a:ln w="19050">
            <a:solidFill>
              <a:schemeClr val="lt1"/>
            </a:solidFill>
          </a:ln>
          <a:effectLst>
            <a:outerShdw blurRad="215900" dist="177800" dir="5400000" algn="ctr" rotWithShape="0">
              <a:srgbClr val="FFC000">
                <a:alpha val="86000"/>
              </a:srgbClr>
            </a:outerShdw>
          </a:effectLst>
        </c:spPr>
      </c:pivotFmt>
      <c:pivotFmt>
        <c:idx val="21"/>
        <c:spPr>
          <a:solidFill>
            <a:schemeClr val="accent1"/>
          </a:solidFill>
          <a:ln w="19050">
            <a:solidFill>
              <a:schemeClr val="lt1"/>
            </a:solidFill>
          </a:ln>
          <a:effectLst>
            <a:outerShdw blurRad="215900" dist="177800" dir="5400000" algn="ctr" rotWithShape="0">
              <a:srgbClr val="FFC000">
                <a:alpha val="86000"/>
              </a:srgbClr>
            </a:outerShdw>
          </a:effectLst>
        </c:spPr>
      </c:pivotFmt>
      <c:pivotFmt>
        <c:idx val="22"/>
        <c:spPr>
          <a:solidFill>
            <a:schemeClr val="accent1"/>
          </a:solidFill>
          <a:ln w="19050">
            <a:solidFill>
              <a:schemeClr val="lt1"/>
            </a:solidFill>
          </a:ln>
          <a:effectLst>
            <a:outerShdw blurRad="215900" dist="177800" dir="5400000" algn="ctr" rotWithShape="0">
              <a:srgbClr val="FFC000">
                <a:alpha val="86000"/>
              </a:srgbClr>
            </a:outerShdw>
          </a:effectLst>
        </c:spPr>
      </c:pivotFmt>
      <c:pivotFmt>
        <c:idx val="23"/>
        <c:spPr>
          <a:solidFill>
            <a:schemeClr val="accent1"/>
          </a:solidFill>
          <a:ln w="19050">
            <a:solidFill>
              <a:schemeClr val="lt1"/>
            </a:solidFill>
          </a:ln>
          <a:effectLst>
            <a:outerShdw blurRad="215900" dist="177800" dir="5400000" algn="ctr" rotWithShape="0">
              <a:srgbClr val="FFC000">
                <a:alpha val="86000"/>
              </a:srgbClr>
            </a:outerShdw>
          </a:effectLst>
        </c:spPr>
      </c:pivotFmt>
      <c:pivotFmt>
        <c:idx val="24"/>
        <c:spPr>
          <a:solidFill>
            <a:schemeClr val="accent1"/>
          </a:solidFill>
          <a:ln w="19050">
            <a:solidFill>
              <a:schemeClr val="lt1"/>
            </a:solidFill>
          </a:ln>
          <a:effectLst>
            <a:outerShdw blurRad="215900" dist="177800" dir="5400000" algn="ctr" rotWithShape="0">
              <a:srgbClr val="FFC000">
                <a:alpha val="86000"/>
              </a:srgbClr>
            </a:outerShdw>
          </a:effectLst>
        </c:spPr>
      </c:pivotFmt>
      <c:pivotFmt>
        <c:idx val="25"/>
        <c:spPr>
          <a:solidFill>
            <a:schemeClr val="accent1"/>
          </a:solidFill>
          <a:ln w="19050">
            <a:solidFill>
              <a:schemeClr val="lt1"/>
            </a:solidFill>
          </a:ln>
          <a:effectLst>
            <a:outerShdw blurRad="215900" dist="177800" dir="5400000" algn="ctr" rotWithShape="0">
              <a:srgbClr val="FFC000">
                <a:alpha val="86000"/>
              </a:srgbClr>
            </a:outerShdw>
          </a:effectLst>
        </c:spPr>
      </c:pivotFmt>
      <c:pivotFmt>
        <c:idx val="26"/>
        <c:spPr>
          <a:solidFill>
            <a:schemeClr val="accent1"/>
          </a:solidFill>
          <a:ln w="19050">
            <a:solidFill>
              <a:schemeClr val="lt1"/>
            </a:solidFill>
          </a:ln>
          <a:effectLst>
            <a:outerShdw blurRad="215900" dist="177800" dir="5400000" algn="ctr" rotWithShape="0">
              <a:srgbClr val="FFC000">
                <a:alpha val="86000"/>
              </a:srgbClr>
            </a:outerShdw>
          </a:effectLst>
        </c:spPr>
      </c:pivotFmt>
    </c:pivotFmts>
    <c:plotArea>
      <c:layout/>
      <c:ofPieChart>
        <c:ofPieType val="pie"/>
        <c:varyColors val="1"/>
        <c:ser>
          <c:idx val="0"/>
          <c:order val="0"/>
          <c:tx>
            <c:strRef>
              <c:f>Analysis!$I$3</c:f>
              <c:strCache>
                <c:ptCount val="1"/>
                <c:pt idx="0">
                  <c:v>Total</c:v>
                </c:pt>
              </c:strCache>
            </c:strRef>
          </c:tx>
          <c:spPr>
            <a:effectLst>
              <a:outerShdw blurRad="215900" dist="177800" dir="5400000" algn="ctr" rotWithShape="0">
                <a:srgbClr val="FFC000">
                  <a:alpha val="86000"/>
                </a:srgbClr>
              </a:outerShdw>
            </a:effectLst>
          </c:spPr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>
                <a:outerShdw blurRad="215900" dist="177800" dir="5400000" algn="ctr" rotWithShape="0">
                  <a:srgbClr val="FFC000">
                    <a:alpha val="86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EFD1-4768-A2E3-D95B7B3E0EAE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>
                <a:outerShdw blurRad="215900" dist="177800" dir="5400000" algn="ctr" rotWithShape="0">
                  <a:srgbClr val="FFC000">
                    <a:alpha val="86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EFD1-4768-A2E3-D95B7B3E0EAE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>
                <a:outerShdw blurRad="215900" dist="177800" dir="5400000" algn="ctr" rotWithShape="0">
                  <a:srgbClr val="FFC000">
                    <a:alpha val="86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EFD1-4768-A2E3-D95B7B3E0EAE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>
                <a:outerShdw blurRad="215900" dist="177800" dir="5400000" algn="ctr" rotWithShape="0">
                  <a:srgbClr val="FFC000">
                    <a:alpha val="86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EFD1-4768-A2E3-D95B7B3E0EAE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>
                <a:outerShdw blurRad="215900" dist="177800" dir="5400000" algn="ctr" rotWithShape="0">
                  <a:srgbClr val="FFC000">
                    <a:alpha val="86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EFD1-4768-A2E3-D95B7B3E0EAE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>
                <a:outerShdw blurRad="215900" dist="177800" dir="5400000" algn="ctr" rotWithShape="0">
                  <a:srgbClr val="FFC000">
                    <a:alpha val="86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B-EFD1-4768-A2E3-D95B7B3E0EAE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>
                <a:outerShdw blurRad="215900" dist="177800" dir="5400000" algn="ctr" rotWithShape="0">
                  <a:srgbClr val="FFC000">
                    <a:alpha val="86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D-EFD1-4768-A2E3-D95B7B3E0EAE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>
                <a:outerShdw blurRad="215900" dist="177800" dir="5400000" algn="ctr" rotWithShape="0">
                  <a:srgbClr val="FFC000">
                    <a:alpha val="86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F-EFD1-4768-A2E3-D95B7B3E0EAE}"/>
              </c:ext>
            </c:extLst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>
                <a:outerShdw blurRad="215900" dist="177800" dir="5400000" algn="ctr" rotWithShape="0">
                  <a:srgbClr val="FFC000">
                    <a:alpha val="86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1-EFD1-4768-A2E3-D95B7B3E0EAE}"/>
              </c:ext>
            </c:extLst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>
                <a:outerShdw blurRad="215900" dist="177800" dir="5400000" algn="ctr" rotWithShape="0">
                  <a:srgbClr val="FFC000">
                    <a:alpha val="86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3-EFD1-4768-A2E3-D95B7B3E0EAE}"/>
              </c:ext>
            </c:extLst>
          </c:dPt>
          <c:dPt>
            <c:idx val="10"/>
            <c:bubble3D val="0"/>
            <c:spPr>
              <a:solidFill>
                <a:schemeClr val="accent5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>
                <a:outerShdw blurRad="215900" dist="177800" dir="5400000" algn="ctr" rotWithShape="0">
                  <a:srgbClr val="FFC000">
                    <a:alpha val="86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5-EFD1-4768-A2E3-D95B7B3E0EAE}"/>
              </c:ext>
            </c:extLst>
          </c:dPt>
          <c:dPt>
            <c:idx val="11"/>
            <c:bubble3D val="0"/>
            <c:spPr>
              <a:solidFill>
                <a:schemeClr val="accent6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>
                <a:outerShdw blurRad="215900" dist="177800" dir="5400000" algn="ctr" rotWithShape="0">
                  <a:srgbClr val="FFC000">
                    <a:alpha val="86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7-EFD1-4768-A2E3-D95B7B3E0EAE}"/>
              </c:ext>
            </c:extLst>
          </c:dPt>
          <c:dPt>
            <c:idx val="12"/>
            <c:bubble3D val="0"/>
            <c:spPr>
              <a:solidFill>
                <a:schemeClr val="accent1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>
                <a:outerShdw blurRad="215900" dist="177800" dir="5400000" algn="ctr" rotWithShape="0">
                  <a:srgbClr val="FFC000">
                    <a:alpha val="86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9-EFD1-4768-A2E3-D95B7B3E0EAE}"/>
              </c:ext>
            </c:extLst>
          </c:dPt>
          <c:cat>
            <c:strRef>
              <c:f>Analysis!$H$4:$H$16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Analysis!$I$4:$I$16</c:f>
              <c:numCache>
                <c:formatCode>"$"#,##0</c:formatCode>
                <c:ptCount val="12"/>
                <c:pt idx="0">
                  <c:v>57863.17</c:v>
                </c:pt>
                <c:pt idx="1">
                  <c:v>59230.42</c:v>
                </c:pt>
                <c:pt idx="2">
                  <c:v>60127</c:v>
                </c:pt>
                <c:pt idx="3">
                  <c:v>58604.41</c:v>
                </c:pt>
                <c:pt idx="4">
                  <c:v>58564.01999999999</c:v>
                </c:pt>
                <c:pt idx="5">
                  <c:v>58260.729999999996</c:v>
                </c:pt>
                <c:pt idx="6">
                  <c:v>58845.83</c:v>
                </c:pt>
                <c:pt idx="7">
                  <c:v>58668.120000000017</c:v>
                </c:pt>
                <c:pt idx="8">
                  <c:v>59025.210000000006</c:v>
                </c:pt>
                <c:pt idx="9">
                  <c:v>58653.95</c:v>
                </c:pt>
                <c:pt idx="10">
                  <c:v>59136.610000000008</c:v>
                </c:pt>
                <c:pt idx="11">
                  <c:v>59215.419999999984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A-EFD1-4768-A2E3-D95B7B3E0E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gapWidth val="100"/>
        <c:secondPieSize val="75"/>
        <c:serLines>
          <c:spPr>
            <a:ln w="9525" cap="flat" cmpd="sng" algn="ctr">
              <a:solidFill>
                <a:schemeClr val="tx1">
                  <a:lumMod val="35000"/>
                  <a:lumOff val="65000"/>
                </a:schemeClr>
              </a:solidFill>
              <a:round/>
            </a:ln>
            <a:effectLst/>
          </c:spPr>
        </c:serLines>
      </c:ofPieChart>
      <c:spPr>
        <a:solidFill>
          <a:schemeClr val="bg1"/>
        </a:solidFill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6667607174103223"/>
          <c:y val="0.33374671916010501"/>
          <c:w val="0.11665726159230098"/>
          <c:h val="0.6284765966754155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solidFill>
        <a:schemeClr val="bg1">
          <a:lumMod val="95000"/>
          <a:lumOff val="5000"/>
        </a:schemeClr>
      </a:solidFill>
      <a:round/>
    </a:ln>
    <a:effectLst>
      <a:outerShdw blurRad="152400" dist="50800" dir="9600000" sx="101000" sy="101000" algn="ctr" rotWithShape="0">
        <a:srgbClr val="FFC000">
          <a:alpha val="56000"/>
        </a:srgbClr>
      </a:outerShdw>
    </a:effectLst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50000"/>
            <a:lumOff val="50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4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3CB6D8-0521-4256-8543-662BDB78BD82}" type="datetimeFigureOut">
              <a:rPr lang="en-US" smtClean="0"/>
              <a:t>8/27/2024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B8A097-1247-481F-A1B6-2D1DE943C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430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B8A097-1247-481F-A1B6-2D1DE943CD1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2187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8/27/2024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2245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8/27/2024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753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8/27/2024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864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8/27/2024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338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8/27/2024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016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8/27/2024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678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8/27/2024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093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8/27/2024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773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D208048B-57AF-4F53-BC84-8E0A1033FBEC}" type="datetimeFigureOut">
              <a:rPr lang="en-US" smtClean="0"/>
              <a:t>8/27/2024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515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pPr/>
              <a:t>8/27/2024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5742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pPr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16119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pPr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66990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pPr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197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pPr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48111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pPr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4739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8/27/2024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6683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8/27/2024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40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D208048B-57AF-4F53-BC84-8E0A1033FBEC}" type="datetimeFigureOut">
              <a:rPr lang="en-US" smtClean="0"/>
              <a:pPr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D8A8A1B-4E1E-43EF-8A39-7D4A3879B94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768060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file:///E:\DATA-ANALYTICS-HADI-LEARNING-MISS-AROOSA\excel%20power%20dashboard.xlsx!ForPower!R31C17:R49C27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2.xml"/><Relationship Id="rId5" Type="http://schemas.openxmlformats.org/officeDocument/2006/relationships/chart" Target="../charts/chart1.xml"/><Relationship Id="rId4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EBC9903-98E9-482D-E6D3-8BA2013D38FC}"/>
              </a:ext>
            </a:extLst>
          </p:cNvPr>
          <p:cNvSpPr/>
          <p:nvPr/>
        </p:nvSpPr>
        <p:spPr>
          <a:xfrm>
            <a:off x="6646606" y="106018"/>
            <a:ext cx="5435315" cy="2832652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0000"/>
              </a:highlight>
            </a:endParaRP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A12FE98C-76E6-AA03-8D5F-555065B3215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2997755"/>
              </p:ext>
            </p:extLst>
          </p:nvPr>
        </p:nvGraphicFramePr>
        <p:xfrm>
          <a:off x="6751409" y="255638"/>
          <a:ext cx="5330512" cy="23531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6713397" imgH="3482309" progId="Excel.Sheet.12">
                  <p:link updateAutomatic="1"/>
                </p:oleObj>
              </mc:Choice>
              <mc:Fallback>
                <p:oleObj name="Worksheet" r:id="rId3" imgW="6713397" imgH="3482309" progId="Excel.Sheet.12">
                  <p:link updateAutomatic="1"/>
                  <p:pic>
                    <p:nvPicPr>
                      <p:cNvPr id="38" name="Object 37">
                        <a:extLst>
                          <a:ext uri="{FF2B5EF4-FFF2-40B4-BE49-F238E27FC236}">
                            <a16:creationId xmlns:a16="http://schemas.microsoft.com/office/drawing/2014/main" id="{3F836B9D-573B-8628-C1A6-3901127AEB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751409" y="255638"/>
                        <a:ext cx="5330512" cy="235312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CB2A8749-E433-288D-88B9-B7EA42EB6B6F}"/>
              </a:ext>
            </a:extLst>
          </p:cNvPr>
          <p:cNvSpPr/>
          <p:nvPr/>
        </p:nvSpPr>
        <p:spPr>
          <a:xfrm>
            <a:off x="6633384" y="3050620"/>
            <a:ext cx="5435315" cy="3587813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0000"/>
              </a:highlight>
            </a:endParaRP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398030B0-4C7F-BA54-EE42-29E79899192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13835646"/>
              </p:ext>
            </p:extLst>
          </p:nvPr>
        </p:nvGraphicFramePr>
        <p:xfrm>
          <a:off x="6751409" y="3050619"/>
          <a:ext cx="5199266" cy="34485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8271D034-CDF4-5E3E-5CC9-FB3A34FAD0EB}"/>
              </a:ext>
            </a:extLst>
          </p:cNvPr>
          <p:cNvSpPr/>
          <p:nvPr/>
        </p:nvSpPr>
        <p:spPr>
          <a:xfrm>
            <a:off x="110080" y="106018"/>
            <a:ext cx="1089456" cy="6589189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0000"/>
              </a:highlight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E05F103-6A7F-1CA2-A14B-59B68BC99C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0662807"/>
              </p:ext>
            </p:extLst>
          </p:nvPr>
        </p:nvGraphicFramePr>
        <p:xfrm>
          <a:off x="241325" y="272619"/>
          <a:ext cx="776748" cy="647002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76748">
                  <a:extLst>
                    <a:ext uri="{9D8B030D-6E8A-4147-A177-3AD203B41FA5}">
                      <a16:colId xmlns:a16="http://schemas.microsoft.com/office/drawing/2014/main" val="2723077188"/>
                    </a:ext>
                  </a:extLst>
                </a:gridCol>
              </a:tblGrid>
              <a:tr h="244839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  <a:latin typeface="ADLaM Display" panose="020F0502020204030204" pitchFamily="2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Alex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DLaM Display" panose="020F0502020204030204" pitchFamily="2" charset="0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 marL="5007" marR="5007" marT="5007" marB="0" anchor="b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3829902"/>
                  </a:ext>
                </a:extLst>
              </a:tr>
              <a:tr h="244839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  <a:latin typeface="ADLaM Display" panose="020F0502020204030204" pitchFamily="2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Alice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DLaM Display" panose="020F0502020204030204" pitchFamily="2" charset="0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 marL="5007" marR="5007" marT="5007" marB="0" anchor="b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2835819"/>
                  </a:ext>
                </a:extLst>
              </a:tr>
              <a:tr h="244839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  <a:latin typeface="ADLaM Display" panose="020F0502020204030204" pitchFamily="2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Bob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DLaM Display" panose="020F0502020204030204" pitchFamily="2" charset="0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 marL="5007" marR="5007" marT="5007" marB="0" anchor="b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3949203"/>
                  </a:ext>
                </a:extLst>
              </a:tr>
              <a:tr h="244839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  <a:latin typeface="ADLaM Display" panose="020F0502020204030204" pitchFamily="2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Charlie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DLaM Display" panose="020F0502020204030204" pitchFamily="2" charset="0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 marL="5007" marR="5007" marT="5007" marB="0" anchor="b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4832762"/>
                  </a:ext>
                </a:extLst>
              </a:tr>
              <a:tr h="244839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  <a:latin typeface="ADLaM Display" panose="020F0502020204030204" pitchFamily="2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Chris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DLaM Display" panose="020F0502020204030204" pitchFamily="2" charset="0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 marL="5007" marR="5007" marT="5007" marB="0" anchor="b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9614603"/>
                  </a:ext>
                </a:extLst>
              </a:tr>
              <a:tr h="244839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  <a:latin typeface="ADLaM Display" panose="020F0502020204030204" pitchFamily="2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Craig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DLaM Display" panose="020F0502020204030204" pitchFamily="2" charset="0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 marL="5007" marR="5007" marT="5007" marB="0" anchor="b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725718"/>
                  </a:ext>
                </a:extLst>
              </a:tr>
              <a:tr h="244839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  <a:latin typeface="ADLaM Display" panose="020F0502020204030204" pitchFamily="2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Darren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DLaM Display" panose="020F0502020204030204" pitchFamily="2" charset="0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 marL="5007" marR="5007" marT="5007" marB="0" anchor="b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479868"/>
                  </a:ext>
                </a:extLst>
              </a:tr>
              <a:tr h="244839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  <a:latin typeface="ADLaM Display" panose="020F0502020204030204" pitchFamily="2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David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DLaM Display" panose="020F0502020204030204" pitchFamily="2" charset="0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 marL="5007" marR="5007" marT="5007" marB="0" anchor="b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536915"/>
                  </a:ext>
                </a:extLst>
              </a:tr>
              <a:tr h="244839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  <a:latin typeface="ADLaM Display" panose="020F0502020204030204" pitchFamily="2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Diana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DLaM Display" panose="020F0502020204030204" pitchFamily="2" charset="0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 marL="5007" marR="5007" marT="5007" marB="0" anchor="b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5815616"/>
                  </a:ext>
                </a:extLst>
              </a:tr>
              <a:tr h="244839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  <a:latin typeface="ADLaM Display" panose="020F0502020204030204" pitchFamily="2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Emma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DLaM Display" panose="020F0502020204030204" pitchFamily="2" charset="0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 marL="5007" marR="5007" marT="5007" marB="0" anchor="b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8756427"/>
                  </a:ext>
                </a:extLst>
              </a:tr>
              <a:tr h="244839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  <a:latin typeface="ADLaM Display" panose="020F0502020204030204" pitchFamily="2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Evan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DLaM Display" panose="020F0502020204030204" pitchFamily="2" charset="0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 marL="5007" marR="5007" marT="5007" marB="0" anchor="b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4518007"/>
                  </a:ext>
                </a:extLst>
              </a:tr>
              <a:tr h="244839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  <a:latin typeface="ADLaM Display" panose="020F0502020204030204" pitchFamily="2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Grace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DLaM Display" panose="020F0502020204030204" pitchFamily="2" charset="0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 marL="5007" marR="5007" marT="5007" marB="0" anchor="b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3595761"/>
                  </a:ext>
                </a:extLst>
              </a:tr>
              <a:tr h="244839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  <a:latin typeface="ADLaM Display" panose="020F0502020204030204" pitchFamily="2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Ian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DLaM Display" panose="020F0502020204030204" pitchFamily="2" charset="0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 marL="5007" marR="5007" marT="5007" marB="0" anchor="b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7807589"/>
                  </a:ext>
                </a:extLst>
              </a:tr>
              <a:tr h="244839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  <a:latin typeface="ADLaM Display" panose="020F0502020204030204" pitchFamily="2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Jake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DLaM Display" panose="020F0502020204030204" pitchFamily="2" charset="0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 marL="5007" marR="5007" marT="5007" marB="0" anchor="b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9761842"/>
                  </a:ext>
                </a:extLst>
              </a:tr>
              <a:tr h="244839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  <a:latin typeface="ADLaM Display" panose="020F0502020204030204" pitchFamily="2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James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DLaM Display" panose="020F0502020204030204" pitchFamily="2" charset="0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 marL="5007" marR="5007" marT="5007" marB="0" anchor="b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9569281"/>
                  </a:ext>
                </a:extLst>
              </a:tr>
              <a:tr h="244839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  <a:latin typeface="ADLaM Display" panose="020F0502020204030204" pitchFamily="2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Josh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DLaM Display" panose="020F0502020204030204" pitchFamily="2" charset="0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 marL="5007" marR="5007" marT="5007" marB="0" anchor="b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1706858"/>
                  </a:ext>
                </a:extLst>
              </a:tr>
              <a:tr h="244839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  <a:latin typeface="ADLaM Display" panose="020F0502020204030204" pitchFamily="2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Karol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DLaM Display" panose="020F0502020204030204" pitchFamily="2" charset="0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 marL="5007" marR="5007" marT="5007" marB="0" anchor="b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5766640"/>
                  </a:ext>
                </a:extLst>
              </a:tr>
              <a:tr h="244839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  <a:latin typeface="ADLaM Display" panose="020F0502020204030204" pitchFamily="2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Liam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DLaM Display" panose="020F0502020204030204" pitchFamily="2" charset="0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 marL="5007" marR="5007" marT="5007" marB="0" anchor="b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1935778"/>
                  </a:ext>
                </a:extLst>
              </a:tr>
              <a:tr h="244839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  <a:latin typeface="ADLaM Display" panose="020F0502020204030204" pitchFamily="2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Melissa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DLaM Display" panose="020F0502020204030204" pitchFamily="2" charset="0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 marL="5007" marR="5007" marT="5007" marB="0" anchor="b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859468"/>
                  </a:ext>
                </a:extLst>
              </a:tr>
              <a:tr h="244839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  <a:latin typeface="ADLaM Display" panose="020F0502020204030204" pitchFamily="2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Mimi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DLaM Display" panose="020F0502020204030204" pitchFamily="2" charset="0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 marL="5007" marR="5007" marT="5007" marB="0" anchor="b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363216"/>
                  </a:ext>
                </a:extLst>
              </a:tr>
              <a:tr h="244839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  <a:latin typeface="ADLaM Display" panose="020F0502020204030204" pitchFamily="2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Molly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DLaM Display" panose="020F0502020204030204" pitchFamily="2" charset="0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 marL="5007" marR="5007" marT="5007" marB="0" anchor="b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550827"/>
                  </a:ext>
                </a:extLst>
              </a:tr>
              <a:tr h="244839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  <a:latin typeface="ADLaM Display" panose="020F0502020204030204" pitchFamily="2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Paul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DLaM Display" panose="020F0502020204030204" pitchFamily="2" charset="0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 marL="5007" marR="5007" marT="5007" marB="0" anchor="b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0343883"/>
                  </a:ext>
                </a:extLst>
              </a:tr>
              <a:tr h="244839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  <a:latin typeface="ADLaM Display" panose="020F0502020204030204" pitchFamily="2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Richard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DLaM Display" panose="020F0502020204030204" pitchFamily="2" charset="0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 marL="5007" marR="5007" marT="5007" marB="0" anchor="b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5123568"/>
                  </a:ext>
                </a:extLst>
              </a:tr>
              <a:tr h="244839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  <a:latin typeface="ADLaM Display" panose="020F0502020204030204" pitchFamily="2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Rick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DLaM Display" panose="020F0502020204030204" pitchFamily="2" charset="0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 marL="5007" marR="5007" marT="5007" marB="0" anchor="b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1849532"/>
                  </a:ext>
                </a:extLst>
              </a:tr>
              <a:tr h="244839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  <a:latin typeface="ADLaM Display" panose="020F0502020204030204" pitchFamily="2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Vicky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DLaM Display" panose="020F0502020204030204" pitchFamily="2" charset="0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 marL="5007" marR="5007" marT="5007" marB="0" anchor="b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1582035"/>
                  </a:ext>
                </a:extLst>
              </a:tr>
              <a:tr h="244839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  <a:latin typeface="ADLaM Display" panose="020F0502020204030204" pitchFamily="2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Will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DLaM Display" panose="020F0502020204030204" pitchFamily="2" charset="0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 marL="5007" marR="5007" marT="5007" marB="0" anchor="b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9281453"/>
                  </a:ext>
                </a:extLst>
              </a:tr>
            </a:tbl>
          </a:graphicData>
        </a:graphic>
      </p:graphicFrame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44A7F23A-E1FA-BA14-EE51-84A46E18CED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38122336"/>
              </p:ext>
            </p:extLst>
          </p:nvPr>
        </p:nvGraphicFramePr>
        <p:xfrm>
          <a:off x="1370111" y="2493808"/>
          <a:ext cx="5095032" cy="21126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5" name="Rectangle: Diagonal Corners Rounded 14">
            <a:extLst>
              <a:ext uri="{FF2B5EF4-FFF2-40B4-BE49-F238E27FC236}">
                <a16:creationId xmlns:a16="http://schemas.microsoft.com/office/drawing/2014/main" id="{5529A360-B201-E7FD-141B-86439CEC0912}"/>
              </a:ext>
            </a:extLst>
          </p:cNvPr>
          <p:cNvSpPr/>
          <p:nvPr/>
        </p:nvSpPr>
        <p:spPr>
          <a:xfrm>
            <a:off x="4145203" y="106018"/>
            <a:ext cx="2319940" cy="904830"/>
          </a:xfrm>
          <a:prstGeom prst="round2DiagRect">
            <a:avLst/>
          </a:prstGeom>
          <a:solidFill>
            <a:schemeClr val="bg1"/>
          </a:solidFill>
          <a:effectLst>
            <a:outerShdw blurRad="50800" dist="50800" dir="5400000" algn="ctr" rotWithShape="0">
              <a:srgbClr val="FFC00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DA0ED4C-4694-48B4-B42A-6E2170825054}" type="TxLink">
              <a:rPr lang="en-US" sz="4400" b="0" i="0" u="none" strike="noStrike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pPr algn="ctr"/>
              <a:t>$706,195</a:t>
            </a:fld>
            <a:endParaRPr lang="en-US" sz="4400" b="0" i="0" u="none" strike="noStrike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algn="ctr"/>
            <a:endParaRPr lang="en-US" sz="3600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7" name="Rectangle: Diagonal Corners Rounded 16">
            <a:extLst>
              <a:ext uri="{FF2B5EF4-FFF2-40B4-BE49-F238E27FC236}">
                <a16:creationId xmlns:a16="http://schemas.microsoft.com/office/drawing/2014/main" id="{5529A360-B201-E7FD-141B-86439CEC0912}"/>
              </a:ext>
            </a:extLst>
          </p:cNvPr>
          <p:cNvSpPr/>
          <p:nvPr/>
        </p:nvSpPr>
        <p:spPr>
          <a:xfrm>
            <a:off x="1370110" y="113392"/>
            <a:ext cx="2670948" cy="897456"/>
          </a:xfrm>
          <a:prstGeom prst="round2DiagRect">
            <a:avLst/>
          </a:prstGeom>
          <a:solidFill>
            <a:schemeClr val="bg1"/>
          </a:solidFill>
          <a:effectLst>
            <a:outerShdw blurRad="50800" dist="50800" dir="5400000" algn="ctr" rotWithShape="0">
              <a:srgbClr val="FFC00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89FA4D5-B93A-4B71-8796-3DB7CD400EFA}" type="TxLink">
              <a:rPr lang="en-US" sz="2400" b="0" i="0" u="none" strike="noStrike" smtClean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pPr algn="ctr"/>
              <a:t>Sum of Deal Value ($)</a:t>
            </a:fld>
            <a:endParaRPr lang="en-US" sz="2400" dirty="0">
              <a:solidFill>
                <a:schemeClr val="tx1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8" name="Rectangle: Diagonal Corners Rounded 17">
            <a:extLst>
              <a:ext uri="{FF2B5EF4-FFF2-40B4-BE49-F238E27FC236}">
                <a16:creationId xmlns:a16="http://schemas.microsoft.com/office/drawing/2014/main" id="{68B7F791-B513-47C2-AA11-9DC6A76B906C}"/>
              </a:ext>
            </a:extLst>
          </p:cNvPr>
          <p:cNvSpPr/>
          <p:nvPr/>
        </p:nvSpPr>
        <p:spPr>
          <a:xfrm>
            <a:off x="1394221" y="1269721"/>
            <a:ext cx="2594720" cy="998518"/>
          </a:xfrm>
          <a:prstGeom prst="round2DiagRect">
            <a:avLst/>
          </a:prstGeom>
          <a:solidFill>
            <a:schemeClr val="bg1"/>
          </a:solidFill>
          <a:effectLst>
            <a:outerShdw blurRad="50800" dist="50800" dir="5400000" algn="ctr" rotWithShape="0">
              <a:srgbClr val="FFC00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F64C06D3-BD94-44C0-8E07-226028EF15D2}" type="TxLink">
              <a:rPr lang="en-US" sz="2000" b="0" i="0" u="none" strike="noStrike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pPr algn="ctr"/>
              <a:t>Average of Call Drop Rate (%)</a:t>
            </a:fld>
            <a:endParaRPr lang="en-US" sz="2000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9" name="Rectangle: Diagonal Corners Rounded 18">
            <a:extLst>
              <a:ext uri="{FF2B5EF4-FFF2-40B4-BE49-F238E27FC236}">
                <a16:creationId xmlns:a16="http://schemas.microsoft.com/office/drawing/2014/main" id="{048FAE43-A0BE-45EF-B4DC-FE953E48235C}"/>
              </a:ext>
            </a:extLst>
          </p:cNvPr>
          <p:cNvSpPr/>
          <p:nvPr/>
        </p:nvSpPr>
        <p:spPr>
          <a:xfrm>
            <a:off x="4080872" y="1253069"/>
            <a:ext cx="2371050" cy="998518"/>
          </a:xfrm>
          <a:prstGeom prst="round2DiagRect">
            <a:avLst/>
          </a:prstGeom>
          <a:solidFill>
            <a:schemeClr val="bg1"/>
          </a:solidFill>
          <a:effectLst>
            <a:outerShdw blurRad="50800" dist="50800" dir="5400000" algn="ctr" rotWithShape="0">
              <a:srgbClr val="FFC00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F52EE129-78F2-4C00-B2C9-773C480F829E}" type="TxLink">
              <a:rPr lang="en-US" sz="4800" b="0" i="0" u="none" strike="noStrike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pPr algn="ctr"/>
              <a:t>4.99%</a:t>
            </a:fld>
            <a:endParaRPr lang="en-US" sz="4800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1" name="Rectangle: Diagonal Corners Rounded 20">
            <a:extLst>
              <a:ext uri="{FF2B5EF4-FFF2-40B4-BE49-F238E27FC236}">
                <a16:creationId xmlns:a16="http://schemas.microsoft.com/office/drawing/2014/main" id="{05905DD8-EBE2-CD2E-7CBA-558F1AF2DDB6}"/>
              </a:ext>
            </a:extLst>
          </p:cNvPr>
          <p:cNvSpPr/>
          <p:nvPr/>
        </p:nvSpPr>
        <p:spPr>
          <a:xfrm>
            <a:off x="4562168" y="4729505"/>
            <a:ext cx="1889752" cy="1908928"/>
          </a:xfrm>
          <a:prstGeom prst="round2DiagRect">
            <a:avLst/>
          </a:prstGeom>
          <a:solidFill>
            <a:schemeClr val="bg1"/>
          </a:solidFill>
          <a:effectLst>
            <a:outerShdw blurRad="292100" dist="50800" dir="21540000" algn="ctr" rotWithShape="0">
              <a:srgbClr val="FFC000">
                <a:alpha val="77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400" dirty="0">
              <a:solidFill>
                <a:schemeClr val="tx1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2" name="Circle: Hollow 2">
            <a:extLst>
              <a:ext uri="{FF2B5EF4-FFF2-40B4-BE49-F238E27FC236}">
                <a16:creationId xmlns:a16="http://schemas.microsoft.com/office/drawing/2014/main" id="{19E2B929-2DA2-BE9B-55A0-9A81D62D511C}"/>
              </a:ext>
            </a:extLst>
          </p:cNvPr>
          <p:cNvSpPr/>
          <p:nvPr/>
        </p:nvSpPr>
        <p:spPr>
          <a:xfrm>
            <a:off x="4633217" y="4765907"/>
            <a:ext cx="1811094" cy="1836124"/>
          </a:xfrm>
          <a:custGeom>
            <a:avLst/>
            <a:gdLst>
              <a:gd name="connsiteX0" fmla="*/ 0 w 2377440"/>
              <a:gd name="connsiteY0" fmla="*/ 1508760 h 3017520"/>
              <a:gd name="connsiteX1" fmla="*/ 1188720 w 2377440"/>
              <a:gd name="connsiteY1" fmla="*/ 0 h 3017520"/>
              <a:gd name="connsiteX2" fmla="*/ 2377440 w 2377440"/>
              <a:gd name="connsiteY2" fmla="*/ 1508760 h 3017520"/>
              <a:gd name="connsiteX3" fmla="*/ 1188720 w 2377440"/>
              <a:gd name="connsiteY3" fmla="*/ 3017520 h 3017520"/>
              <a:gd name="connsiteX4" fmla="*/ 0 w 2377440"/>
              <a:gd name="connsiteY4" fmla="*/ 1508760 h 3017520"/>
              <a:gd name="connsiteX5" fmla="*/ 594360 w 2377440"/>
              <a:gd name="connsiteY5" fmla="*/ 1508760 h 3017520"/>
              <a:gd name="connsiteX6" fmla="*/ 1188720 w 2377440"/>
              <a:gd name="connsiteY6" fmla="*/ 2423160 h 3017520"/>
              <a:gd name="connsiteX7" fmla="*/ 1783080 w 2377440"/>
              <a:gd name="connsiteY7" fmla="*/ 1508760 h 3017520"/>
              <a:gd name="connsiteX8" fmla="*/ 1188720 w 2377440"/>
              <a:gd name="connsiteY8" fmla="*/ 594360 h 3017520"/>
              <a:gd name="connsiteX9" fmla="*/ 594360 w 2377440"/>
              <a:gd name="connsiteY9" fmla="*/ 1508760 h 3017520"/>
              <a:gd name="connsiteX0" fmla="*/ 0 w 2377440"/>
              <a:gd name="connsiteY0" fmla="*/ 1508760 h 3017520"/>
              <a:gd name="connsiteX1" fmla="*/ 1188720 w 2377440"/>
              <a:gd name="connsiteY1" fmla="*/ 0 h 3017520"/>
              <a:gd name="connsiteX2" fmla="*/ 2377440 w 2377440"/>
              <a:gd name="connsiteY2" fmla="*/ 1508760 h 3017520"/>
              <a:gd name="connsiteX3" fmla="*/ 1188720 w 2377440"/>
              <a:gd name="connsiteY3" fmla="*/ 3017520 h 3017520"/>
              <a:gd name="connsiteX4" fmla="*/ 0 w 2377440"/>
              <a:gd name="connsiteY4" fmla="*/ 1508760 h 3017520"/>
              <a:gd name="connsiteX5" fmla="*/ 594360 w 2377440"/>
              <a:gd name="connsiteY5" fmla="*/ 1508760 h 3017520"/>
              <a:gd name="connsiteX6" fmla="*/ 1188720 w 2377440"/>
              <a:gd name="connsiteY6" fmla="*/ 2423160 h 3017520"/>
              <a:gd name="connsiteX7" fmla="*/ 1783080 w 2377440"/>
              <a:gd name="connsiteY7" fmla="*/ 1508760 h 3017520"/>
              <a:gd name="connsiteX8" fmla="*/ 1188720 w 2377440"/>
              <a:gd name="connsiteY8" fmla="*/ 335280 h 3017520"/>
              <a:gd name="connsiteX9" fmla="*/ 594360 w 2377440"/>
              <a:gd name="connsiteY9" fmla="*/ 1508760 h 3017520"/>
              <a:gd name="connsiteX0" fmla="*/ 0 w 2377440"/>
              <a:gd name="connsiteY0" fmla="*/ 1508760 h 3017520"/>
              <a:gd name="connsiteX1" fmla="*/ 1188720 w 2377440"/>
              <a:gd name="connsiteY1" fmla="*/ 0 h 3017520"/>
              <a:gd name="connsiteX2" fmla="*/ 2377440 w 2377440"/>
              <a:gd name="connsiteY2" fmla="*/ 1508760 h 3017520"/>
              <a:gd name="connsiteX3" fmla="*/ 1188720 w 2377440"/>
              <a:gd name="connsiteY3" fmla="*/ 3017520 h 3017520"/>
              <a:gd name="connsiteX4" fmla="*/ 0 w 2377440"/>
              <a:gd name="connsiteY4" fmla="*/ 1508760 h 3017520"/>
              <a:gd name="connsiteX5" fmla="*/ 175260 w 2377440"/>
              <a:gd name="connsiteY5" fmla="*/ 1463040 h 3017520"/>
              <a:gd name="connsiteX6" fmla="*/ 1188720 w 2377440"/>
              <a:gd name="connsiteY6" fmla="*/ 2423160 h 3017520"/>
              <a:gd name="connsiteX7" fmla="*/ 1783080 w 2377440"/>
              <a:gd name="connsiteY7" fmla="*/ 1508760 h 3017520"/>
              <a:gd name="connsiteX8" fmla="*/ 1188720 w 2377440"/>
              <a:gd name="connsiteY8" fmla="*/ 335280 h 3017520"/>
              <a:gd name="connsiteX9" fmla="*/ 175260 w 2377440"/>
              <a:gd name="connsiteY9" fmla="*/ 1463040 h 3017520"/>
              <a:gd name="connsiteX0" fmla="*/ 0 w 2377440"/>
              <a:gd name="connsiteY0" fmla="*/ 1508760 h 3017520"/>
              <a:gd name="connsiteX1" fmla="*/ 1188720 w 2377440"/>
              <a:gd name="connsiteY1" fmla="*/ 0 h 3017520"/>
              <a:gd name="connsiteX2" fmla="*/ 2377440 w 2377440"/>
              <a:gd name="connsiteY2" fmla="*/ 1508760 h 3017520"/>
              <a:gd name="connsiteX3" fmla="*/ 1188720 w 2377440"/>
              <a:gd name="connsiteY3" fmla="*/ 3017520 h 3017520"/>
              <a:gd name="connsiteX4" fmla="*/ 0 w 2377440"/>
              <a:gd name="connsiteY4" fmla="*/ 1508760 h 3017520"/>
              <a:gd name="connsiteX5" fmla="*/ 175260 w 2377440"/>
              <a:gd name="connsiteY5" fmla="*/ 1463040 h 3017520"/>
              <a:gd name="connsiteX6" fmla="*/ 1188720 w 2377440"/>
              <a:gd name="connsiteY6" fmla="*/ 2423160 h 3017520"/>
              <a:gd name="connsiteX7" fmla="*/ 2118360 w 2377440"/>
              <a:gd name="connsiteY7" fmla="*/ 1409700 h 3017520"/>
              <a:gd name="connsiteX8" fmla="*/ 1188720 w 2377440"/>
              <a:gd name="connsiteY8" fmla="*/ 335280 h 3017520"/>
              <a:gd name="connsiteX9" fmla="*/ 175260 w 2377440"/>
              <a:gd name="connsiteY9" fmla="*/ 1463040 h 3017520"/>
              <a:gd name="connsiteX0" fmla="*/ 0 w 2377440"/>
              <a:gd name="connsiteY0" fmla="*/ 1508760 h 3017520"/>
              <a:gd name="connsiteX1" fmla="*/ 1188720 w 2377440"/>
              <a:gd name="connsiteY1" fmla="*/ 0 h 3017520"/>
              <a:gd name="connsiteX2" fmla="*/ 2377440 w 2377440"/>
              <a:gd name="connsiteY2" fmla="*/ 1508760 h 3017520"/>
              <a:gd name="connsiteX3" fmla="*/ 1188720 w 2377440"/>
              <a:gd name="connsiteY3" fmla="*/ 3017520 h 3017520"/>
              <a:gd name="connsiteX4" fmla="*/ 0 w 2377440"/>
              <a:gd name="connsiteY4" fmla="*/ 1508760 h 3017520"/>
              <a:gd name="connsiteX5" fmla="*/ 175260 w 2377440"/>
              <a:gd name="connsiteY5" fmla="*/ 1463040 h 3017520"/>
              <a:gd name="connsiteX6" fmla="*/ 1242060 w 2377440"/>
              <a:gd name="connsiteY6" fmla="*/ 2606040 h 3017520"/>
              <a:gd name="connsiteX7" fmla="*/ 2118360 w 2377440"/>
              <a:gd name="connsiteY7" fmla="*/ 1409700 h 3017520"/>
              <a:gd name="connsiteX8" fmla="*/ 1188720 w 2377440"/>
              <a:gd name="connsiteY8" fmla="*/ 335280 h 3017520"/>
              <a:gd name="connsiteX9" fmla="*/ 175260 w 2377440"/>
              <a:gd name="connsiteY9" fmla="*/ 1463040 h 3017520"/>
              <a:gd name="connsiteX0" fmla="*/ 0 w 2377440"/>
              <a:gd name="connsiteY0" fmla="*/ 1508760 h 3017520"/>
              <a:gd name="connsiteX1" fmla="*/ 1188720 w 2377440"/>
              <a:gd name="connsiteY1" fmla="*/ 0 h 3017520"/>
              <a:gd name="connsiteX2" fmla="*/ 2377440 w 2377440"/>
              <a:gd name="connsiteY2" fmla="*/ 1508760 h 3017520"/>
              <a:gd name="connsiteX3" fmla="*/ 1188720 w 2377440"/>
              <a:gd name="connsiteY3" fmla="*/ 3017520 h 3017520"/>
              <a:gd name="connsiteX4" fmla="*/ 0 w 2377440"/>
              <a:gd name="connsiteY4" fmla="*/ 1508760 h 3017520"/>
              <a:gd name="connsiteX5" fmla="*/ 175260 w 2377440"/>
              <a:gd name="connsiteY5" fmla="*/ 1463040 h 3017520"/>
              <a:gd name="connsiteX6" fmla="*/ 1242060 w 2377440"/>
              <a:gd name="connsiteY6" fmla="*/ 2606040 h 3017520"/>
              <a:gd name="connsiteX7" fmla="*/ 2118360 w 2377440"/>
              <a:gd name="connsiteY7" fmla="*/ 1409700 h 3017520"/>
              <a:gd name="connsiteX8" fmla="*/ 1234440 w 2377440"/>
              <a:gd name="connsiteY8" fmla="*/ 853440 h 3017520"/>
              <a:gd name="connsiteX9" fmla="*/ 175260 w 2377440"/>
              <a:gd name="connsiteY9" fmla="*/ 1463040 h 3017520"/>
              <a:gd name="connsiteX0" fmla="*/ 0 w 2377440"/>
              <a:gd name="connsiteY0" fmla="*/ 1508760 h 3017520"/>
              <a:gd name="connsiteX1" fmla="*/ 1188720 w 2377440"/>
              <a:gd name="connsiteY1" fmla="*/ 0 h 3017520"/>
              <a:gd name="connsiteX2" fmla="*/ 2377440 w 2377440"/>
              <a:gd name="connsiteY2" fmla="*/ 1508760 h 3017520"/>
              <a:gd name="connsiteX3" fmla="*/ 1188720 w 2377440"/>
              <a:gd name="connsiteY3" fmla="*/ 3017520 h 3017520"/>
              <a:gd name="connsiteX4" fmla="*/ 0 w 2377440"/>
              <a:gd name="connsiteY4" fmla="*/ 1508760 h 3017520"/>
              <a:gd name="connsiteX5" fmla="*/ 175260 w 2377440"/>
              <a:gd name="connsiteY5" fmla="*/ 1463040 h 3017520"/>
              <a:gd name="connsiteX6" fmla="*/ 1242060 w 2377440"/>
              <a:gd name="connsiteY6" fmla="*/ 2606040 h 3017520"/>
              <a:gd name="connsiteX7" fmla="*/ 2118360 w 2377440"/>
              <a:gd name="connsiteY7" fmla="*/ 1409700 h 3017520"/>
              <a:gd name="connsiteX8" fmla="*/ 1272540 w 2377440"/>
              <a:gd name="connsiteY8" fmla="*/ 571500 h 3017520"/>
              <a:gd name="connsiteX9" fmla="*/ 175260 w 2377440"/>
              <a:gd name="connsiteY9" fmla="*/ 1463040 h 3017520"/>
              <a:gd name="connsiteX0" fmla="*/ 0 w 2377440"/>
              <a:gd name="connsiteY0" fmla="*/ 1508760 h 3017520"/>
              <a:gd name="connsiteX1" fmla="*/ 1188720 w 2377440"/>
              <a:gd name="connsiteY1" fmla="*/ 0 h 3017520"/>
              <a:gd name="connsiteX2" fmla="*/ 2377440 w 2377440"/>
              <a:gd name="connsiteY2" fmla="*/ 1508760 h 3017520"/>
              <a:gd name="connsiteX3" fmla="*/ 1188720 w 2377440"/>
              <a:gd name="connsiteY3" fmla="*/ 3017520 h 3017520"/>
              <a:gd name="connsiteX4" fmla="*/ 0 w 2377440"/>
              <a:gd name="connsiteY4" fmla="*/ 1508760 h 3017520"/>
              <a:gd name="connsiteX5" fmla="*/ 175260 w 2377440"/>
              <a:gd name="connsiteY5" fmla="*/ 1463040 h 3017520"/>
              <a:gd name="connsiteX6" fmla="*/ 1242060 w 2377440"/>
              <a:gd name="connsiteY6" fmla="*/ 2606040 h 3017520"/>
              <a:gd name="connsiteX7" fmla="*/ 2118360 w 2377440"/>
              <a:gd name="connsiteY7" fmla="*/ 1409700 h 3017520"/>
              <a:gd name="connsiteX8" fmla="*/ 1234440 w 2377440"/>
              <a:gd name="connsiteY8" fmla="*/ 480060 h 3017520"/>
              <a:gd name="connsiteX9" fmla="*/ 175260 w 2377440"/>
              <a:gd name="connsiteY9" fmla="*/ 1463040 h 3017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377440" h="3017520">
                <a:moveTo>
                  <a:pt x="0" y="1508760"/>
                </a:moveTo>
                <a:cubicBezTo>
                  <a:pt x="0" y="675495"/>
                  <a:pt x="532208" y="0"/>
                  <a:pt x="1188720" y="0"/>
                </a:cubicBezTo>
                <a:cubicBezTo>
                  <a:pt x="1845232" y="0"/>
                  <a:pt x="2377440" y="675495"/>
                  <a:pt x="2377440" y="1508760"/>
                </a:cubicBezTo>
                <a:cubicBezTo>
                  <a:pt x="2377440" y="2342025"/>
                  <a:pt x="1845232" y="3017520"/>
                  <a:pt x="1188720" y="3017520"/>
                </a:cubicBezTo>
                <a:cubicBezTo>
                  <a:pt x="532208" y="3017520"/>
                  <a:pt x="0" y="2342025"/>
                  <a:pt x="0" y="1508760"/>
                </a:cubicBezTo>
                <a:close/>
                <a:moveTo>
                  <a:pt x="175260" y="1463040"/>
                </a:moveTo>
                <a:cubicBezTo>
                  <a:pt x="176530" y="1817370"/>
                  <a:pt x="918210" y="2614930"/>
                  <a:pt x="1242060" y="2606040"/>
                </a:cubicBezTo>
                <a:cubicBezTo>
                  <a:pt x="1565910" y="2597150"/>
                  <a:pt x="2118360" y="1914709"/>
                  <a:pt x="2118360" y="1409700"/>
                </a:cubicBezTo>
                <a:cubicBezTo>
                  <a:pt x="2118360" y="904691"/>
                  <a:pt x="1558290" y="471170"/>
                  <a:pt x="1234440" y="480060"/>
                </a:cubicBezTo>
                <a:cubicBezTo>
                  <a:pt x="910590" y="488950"/>
                  <a:pt x="173990" y="1108710"/>
                  <a:pt x="175260" y="1463040"/>
                </a:cubicBezTo>
                <a:close/>
              </a:path>
            </a:pathLst>
          </a:cu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57C4996-4FC3-4B58-B9B7-F4946F38A2B8}" type="TxLink">
              <a:rPr lang="en-US" sz="4400" b="0" i="0" u="none" strike="noStrike">
                <a:ln w="3175">
                  <a:solidFill>
                    <a:schemeClr val="tx1"/>
                  </a:solidFill>
                </a:ln>
                <a:solidFill>
                  <a:srgbClr val="000000"/>
                </a:solidFill>
                <a:latin typeface="Algerian" panose="04020705040A02060702" pitchFamily="82" charset="0"/>
              </a:rPr>
              <a:pPr algn="ctr"/>
              <a:t>63%</a:t>
            </a:fld>
            <a:endParaRPr lang="en-US" sz="4400" dirty="0">
              <a:ln w="3175">
                <a:solidFill>
                  <a:schemeClr val="tx1"/>
                </a:solidFill>
              </a:ln>
              <a:solidFill>
                <a:schemeClr val="tx1"/>
              </a:solidFill>
              <a:latin typeface="Algerian" panose="04020705040A02060702" pitchFamily="82" charset="0"/>
            </a:endParaRPr>
          </a:p>
        </p:txBody>
      </p:sp>
      <p:sp>
        <p:nvSpPr>
          <p:cNvPr id="25" name="Flowchart: Data 24">
            <a:extLst>
              <a:ext uri="{FF2B5EF4-FFF2-40B4-BE49-F238E27FC236}">
                <a16:creationId xmlns:a16="http://schemas.microsoft.com/office/drawing/2014/main" id="{42D4A25C-C613-D90F-2C94-0F886C6E7394}"/>
              </a:ext>
            </a:extLst>
          </p:cNvPr>
          <p:cNvSpPr/>
          <p:nvPr/>
        </p:nvSpPr>
        <p:spPr>
          <a:xfrm>
            <a:off x="1434437" y="5055421"/>
            <a:ext cx="3036999" cy="1443701"/>
          </a:xfrm>
          <a:prstGeom prst="flowChartInputOutput">
            <a:avLst/>
          </a:prstGeom>
          <a:solidFill>
            <a:schemeClr val="bg1"/>
          </a:solidFill>
          <a:effectLst>
            <a:outerShdw blurRad="228600" dist="25400" sx="110000" sy="110000" algn="ctr" rotWithShape="0">
              <a:srgbClr val="FFC000">
                <a:alpha val="66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06CB1C38-198F-4FD8-AB73-70D665267D9D}" type="TxLink">
              <a:rPr lang="en-US" sz="3600" b="0" i="0" u="none" strike="noStrike">
                <a:solidFill>
                  <a:srgbClr val="FFC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pPr algn="l"/>
              <a:t>Call Drop %</a:t>
            </a:fld>
            <a:endParaRPr lang="en-US" sz="3600" dirty="0">
              <a:solidFill>
                <a:srgbClr val="FFC00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20723752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259</TotalTime>
  <Words>39</Words>
  <Application>Microsoft Office PowerPoint</Application>
  <PresentationFormat>Widescreen</PresentationFormat>
  <Paragraphs>35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Links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ADLaM Display</vt:lpstr>
      <vt:lpstr>Aharoni</vt:lpstr>
      <vt:lpstr>Algerian</vt:lpstr>
      <vt:lpstr>Aptos</vt:lpstr>
      <vt:lpstr>Arial</vt:lpstr>
      <vt:lpstr>Century Gothic</vt:lpstr>
      <vt:lpstr>Mesh</vt:lpstr>
      <vt:lpstr>file:///E:\DATA-ANALYTICS-HADI-LEARNING-MISS-AROOSA\excel%20power%20dashboard.xlsx!ForPower!R31C17:R49C27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Rindoz chaz</dc:creator>
  <cp:lastModifiedBy>Rindoz chaz</cp:lastModifiedBy>
  <cp:revision>2</cp:revision>
  <dcterms:created xsi:type="dcterms:W3CDTF">2024-08-24T23:34:40Z</dcterms:created>
  <dcterms:modified xsi:type="dcterms:W3CDTF">2024-08-26T20:36:16Z</dcterms:modified>
</cp:coreProperties>
</file>